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2286000"/>
            <a:ext cx="137160" cy="2286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2860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[ PRESENTATION COVER ]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(This slide was requested to be empty. Double-click here to insert your Title, or delete this placeholder text)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0"/>
            <a:ext cx="108200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AuthentiX | Fake Review Detection System</a:t>
            </a:r>
          </a:p>
          <a:p>
            <a:pPr algn="r">
              <a:defRPr sz="900">
                <a:solidFill>
                  <a:srgbClr val="0D9488"/>
                </a:solidFill>
                <a:latin typeface="Arial"/>
              </a:defRPr>
            </a:pPr>
            <a:r>
              <a:t>Slide 1 of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365760"/>
            <a:ext cx="108200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AUTHENTIX PROJECT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Introduction: AuthentiX &amp; FraudLens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600">
                <a:solidFill>
                  <a:srgbClr val="F8FAFC"/>
                </a:solidFill>
                <a:latin typeface="Arial"/>
              </a:defRPr>
            </a:pPr>
            <a:r>
              <a:t>AuthentiX is an advanced web-based intelligence platform built to detect fraudulent, computer-generated, and biased product reviews on major e-commerce platforms.</a:t>
            </a:r>
          </a:p>
          <a:p>
            <a:pPr>
              <a:spcAft>
                <a:spcPts val="2000"/>
              </a:spcAft>
              <a:defRPr sz="1600">
                <a:solidFill>
                  <a:srgbClr val="F8FAFC"/>
                </a:solidFill>
                <a:latin typeface="Arial"/>
              </a:defRPr>
            </a:pPr>
            <a:r>
              <a:t>Combines Natural Language Processing (NLP) with Machine Learning classifiers to inspect review structures, grammar patterns, and user metrics.</a:t>
            </a:r>
          </a:p>
          <a:p>
            <a:pPr>
              <a:spcAft>
                <a:spcPts val="2000"/>
              </a:spcAft>
              <a:defRPr sz="1600">
                <a:solidFill>
                  <a:srgbClr val="F8FAFC"/>
                </a:solidFill>
                <a:latin typeface="Arial"/>
              </a:defRPr>
            </a:pPr>
            <a:r>
              <a:t>Provides multi-modal processing including direct review text validation, speech analysis (voice reviews), and automated web scraping inputs.</a:t>
            </a:r>
          </a:p>
          <a:p>
            <a:pPr>
              <a:spcAft>
                <a:spcPts val="2000"/>
              </a:spcAft>
              <a:defRPr sz="1600">
                <a:solidFill>
                  <a:srgbClr val="F8FAFC"/>
                </a:solidFill>
                <a:latin typeface="Arial"/>
              </a:defRPr>
            </a:pPr>
            <a:r>
              <a:t>Calculates authenticity ratings and sentiment correlation in real-time, helping users make secure and informed purchase decisions.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1645920"/>
            <a:ext cx="438912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1828800"/>
            <a:ext cx="4023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  <a:latin typeface="Arial"/>
              </a:defRPr>
            </a:pPr>
            <a:r>
              <a:t>INTELLIGENT PREDICTION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Leverages TF-IDF representation paired with optimized ML classifiers to screen out synthetically generated reviews.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3931920"/>
            <a:ext cx="438912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0" y="4114800"/>
            <a:ext cx="4023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  <a:latin typeface="Arial"/>
              </a:defRPr>
            </a:pPr>
            <a:r>
              <a:t>SENTIMENT MAPPING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Correlates positive and negative sentiment distribution with fraud probabilities to isolate highly opinionated fake profiles.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400800"/>
            <a:ext cx="108200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AuthentiX | Fake Review Detection System</a:t>
            </a:r>
          </a:p>
          <a:p>
            <a:pPr algn="r">
              <a:defRPr sz="900">
                <a:solidFill>
                  <a:srgbClr val="0D9488"/>
                </a:solidFill>
                <a:latin typeface="Arial"/>
              </a:defRPr>
            </a:pPr>
            <a:r>
              <a:t>Slide 2 of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365760"/>
            <a:ext cx="108200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AUTHENTIX PROJECT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Introduction: E-Commerce Review Crisis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600">
                <a:solidFill>
                  <a:srgbClr val="F8FAFC"/>
                </a:solidFill>
                <a:latin typeface="Arial"/>
              </a:defRPr>
            </a:pPr>
            <a:r>
              <a:t>Modern consumer decision making is heavily influenced by social proof, with over 70% of shoppers checking online reviews before purchasing.</a:t>
            </a:r>
          </a:p>
          <a:p>
            <a:pPr>
              <a:spcAft>
                <a:spcPts val="2000"/>
              </a:spcAft>
              <a:defRPr sz="1600">
                <a:solidFill>
                  <a:srgbClr val="F8FAFC"/>
                </a:solidFill>
                <a:latin typeface="Arial"/>
              </a:defRPr>
            </a:pPr>
            <a:r>
              <a:t>This critical reliance has birthed a massive underground industry of fake review farms, selling artificial positive scores and coordinated negative attacks.</a:t>
            </a:r>
          </a:p>
          <a:p>
            <a:pPr>
              <a:spcAft>
                <a:spcPts val="2000"/>
              </a:spcAft>
              <a:defRPr sz="1600">
                <a:solidFill>
                  <a:srgbClr val="F8FAFC"/>
                </a:solidFill>
                <a:latin typeface="Arial"/>
              </a:defRPr>
            </a:pPr>
            <a:r>
              <a:t>The emergence of Generative AI has further allowed bad actors to generate highly authentic, natural-sounding product reviews at scale, leaving traditional heuristic filters obsolete.</a:t>
            </a:r>
          </a:p>
          <a:p>
            <a:pPr>
              <a:spcAft>
                <a:spcPts val="2000"/>
              </a:spcAft>
              <a:defRPr sz="1600">
                <a:solidFill>
                  <a:srgbClr val="F8FAFC"/>
                </a:solidFill>
                <a:latin typeface="Arial"/>
              </a:defRPr>
            </a:pPr>
            <a:r>
              <a:t>AuthentiX steps in as an independent, algorithmically driven verification layer that restores honesty and transparency to online marketplaces.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1645920"/>
            <a:ext cx="4389120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2011680"/>
            <a:ext cx="4023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0D9488"/>
                </a:solidFill>
                <a:latin typeface="Arial"/>
              </a:defRPr>
            </a:pPr>
            <a:r>
              <a:t>70%+</a:t>
            </a:r>
          </a:p>
          <a:p>
            <a:pPr algn="ctr">
              <a:spcAft>
                <a:spcPts val="24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OF BUYERS RELY ON REVIEWS</a:t>
            </a:r>
          </a:p>
          <a:p>
            <a:pPr algn="ctr">
              <a:defRPr sz="1400">
                <a:solidFill>
                  <a:srgbClr val="94A3B8"/>
                </a:solidFill>
                <a:latin typeface="Arial"/>
              </a:defRPr>
            </a:pPr>
            <a:r>
              <a:t>Because e-commerce reviews directly translate to revenue, bad actors actively manipulate ratings. AuthentiX bypasses star-ratings to inspect linguistic signals.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00800"/>
            <a:ext cx="108200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AuthentiX | Fake Review Detection System</a:t>
            </a:r>
          </a:p>
          <a:p>
            <a:pPr algn="r">
              <a:defRPr sz="900">
                <a:solidFill>
                  <a:srgbClr val="0D9488"/>
                </a:solidFill>
                <a:latin typeface="Arial"/>
              </a:defRPr>
            </a:pPr>
            <a:r>
              <a:t>Slide 3 of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365760"/>
            <a:ext cx="108200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AUTHENTIX PROJECT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Problem Statement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3291840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D9488"/>
                </a:solidFill>
                <a:latin typeface="Arial"/>
              </a:defRPr>
            </a:pPr>
            <a:r>
              <a:t>01</a:t>
            </a:r>
          </a:p>
          <a:p>
            <a:pPr>
              <a:spcBef>
                <a:spcPts val="1000"/>
              </a:spcBef>
              <a:spcAft>
                <a:spcPts val="15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THE TRUST DEFICIT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Consumers face constant deception from astroturfing campaigns. Authentic sellers are pushed down by competitors buying bulk five-star reviews, creating market imbalance.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45920"/>
            <a:ext cx="3291840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82880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D9488"/>
                </a:solidFill>
                <a:latin typeface="Arial"/>
              </a:defRPr>
            </a:pPr>
            <a:r>
              <a:t>02</a:t>
            </a:r>
          </a:p>
          <a:p>
            <a:pPr>
              <a:spcBef>
                <a:spcPts val="1000"/>
              </a:spcBef>
              <a:spcAft>
                <a:spcPts val="15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AI-DRIVEN DECEPTION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Traditional review systems flag simple copy-pasted comments. Modern LLMs write highly specific, context-aware reviews that bypass basic filters, mimicking real buyer speech.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1645920"/>
            <a:ext cx="3291840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182880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D9488"/>
                </a:solidFill>
                <a:latin typeface="Arial"/>
              </a:defRPr>
            </a:pPr>
            <a:r>
              <a:t>03</a:t>
            </a:r>
          </a:p>
          <a:p>
            <a:pPr>
              <a:spcBef>
                <a:spcPts val="1000"/>
              </a:spcBef>
              <a:spcAft>
                <a:spcPts val="15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MANUAL AUDITING FAIL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It is physically and economically impossible for marketplace operators or customers to manually verify thousands of daily reviews for structured patterns, creating a detection gap.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400800"/>
            <a:ext cx="108200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AuthentiX | Fake Review Detection System</a:t>
            </a:r>
          </a:p>
          <a:p>
            <a:pPr algn="r">
              <a:defRPr sz="900">
                <a:solidFill>
                  <a:srgbClr val="0D9488"/>
                </a:solidFill>
                <a:latin typeface="Arial"/>
              </a:defRPr>
            </a:pPr>
            <a:r>
              <a:t>Slide 4 of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365760"/>
            <a:ext cx="108200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AUTHENTIX PROJECT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Project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51206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  <a:latin typeface="Arial"/>
              </a:defRPr>
            </a:pPr>
            <a:r>
              <a:t>AUTOMATE REVIEW CLASSIFICATION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Construct a robust classifier that instantly categories dynamic reviews into 'Genuine' or 'Fake' without relying on manual rating analysis.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85255" y="1645920"/>
            <a:ext cx="51206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68135" y="18288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  <a:latin typeface="Arial"/>
              </a:defRPr>
            </a:pPr>
            <a:r>
              <a:t>REAL-TIME WEB CRAWLING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Integrate BeautifulSoup and Selenium web crawlers to grab and evaluate reviews directly from active Amazon and Flipkart product links on-demand.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931920"/>
            <a:ext cx="51206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1148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  <a:latin typeface="Arial"/>
              </a:defRPr>
            </a:pPr>
            <a:r>
              <a:t>SENTIMENT &amp; FRAUD MAPPING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Examine review text sentiments to evaluate if highly emotional patterns (extreme positivity or negativity) correlate to fraudulent accounts.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85255" y="3931920"/>
            <a:ext cx="51206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8135" y="41148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  <a:latin typeface="Arial"/>
              </a:defRPr>
            </a:pPr>
            <a:r>
              <a:t>INTUITIVE VISUAL INSIGHTS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Deliver a consumer-facing dashboard showing predictive probabilities, cleaned token metrics, and a searchable history for auditing reviews.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400800"/>
            <a:ext cx="108200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AuthentiX | Fake Review Detection System</a:t>
            </a:r>
          </a:p>
          <a:p>
            <a:pPr algn="r">
              <a:defRPr sz="900">
                <a:solidFill>
                  <a:srgbClr val="0D9488"/>
                </a:solidFill>
                <a:latin typeface="Arial"/>
              </a:defRPr>
            </a:pPr>
            <a:r>
              <a:t>Slide 5 of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365760"/>
            <a:ext cx="108200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AUTHENTIX PROJECT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System Workflow &amp;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15544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83080"/>
            <a:ext cx="1554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D9488"/>
                </a:solidFill>
                <a:latin typeface="Arial"/>
              </a:defRPr>
            </a:pPr>
            <a:r>
              <a:t>1. Input</a:t>
            </a:r>
          </a:p>
          <a:p>
            <a:pPr algn="ctr">
              <a:spcBef>
                <a:spcPts val="20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Raw review text,</a:t>
            </a:r>
            <a:br/>
            <a:r>
              <a:t>voice audio, or</a:t>
            </a:r>
            <a:br/>
            <a:r>
              <a:t>e-commerce URL.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240280" y="3474720"/>
            <a:ext cx="274320" cy="27432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514600" y="1645920"/>
            <a:ext cx="15544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14600" y="1783080"/>
            <a:ext cx="1554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D9488"/>
                </a:solidFill>
                <a:latin typeface="Arial"/>
              </a:defRPr>
            </a:pPr>
            <a:r>
              <a:t>2. Crawl</a:t>
            </a:r>
          </a:p>
          <a:p>
            <a:pPr algn="ctr">
              <a:spcBef>
                <a:spcPts val="20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BeautifulSoup or</a:t>
            </a:r>
            <a:br/>
            <a:r>
              <a:t>Selenium fetches</a:t>
            </a:r>
            <a:br/>
            <a:r>
              <a:t>active website HTML.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069080" y="3474720"/>
            <a:ext cx="274320" cy="27432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43400" y="1645920"/>
            <a:ext cx="15544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783080"/>
            <a:ext cx="1554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D9488"/>
                </a:solidFill>
                <a:latin typeface="Arial"/>
              </a:defRPr>
            </a:pPr>
            <a:r>
              <a:t>3. Process</a:t>
            </a:r>
          </a:p>
          <a:p>
            <a:pPr algn="ctr">
              <a:spcBef>
                <a:spcPts val="20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Lowercasing,</a:t>
            </a:r>
            <a:br/>
            <a:r>
              <a:t>special character</a:t>
            </a:r>
            <a:br/>
            <a:r>
              <a:t>stripping, NLTK.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897880" y="3474720"/>
            <a:ext cx="274320" cy="27432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72200" y="1645920"/>
            <a:ext cx="15544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1783080"/>
            <a:ext cx="1554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D9488"/>
                </a:solidFill>
                <a:latin typeface="Arial"/>
              </a:defRPr>
            </a:pPr>
            <a:r>
              <a:t>4. Vectorize</a:t>
            </a:r>
          </a:p>
          <a:p>
            <a:pPr algn="ctr">
              <a:spcBef>
                <a:spcPts val="20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TF-IDF converts</a:t>
            </a:r>
            <a:br/>
            <a:r>
              <a:t>text into numerical</a:t>
            </a:r>
            <a:br/>
            <a:r>
              <a:t>sparse matrices.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726680" y="3474720"/>
            <a:ext cx="274320" cy="27432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01000" y="1645920"/>
            <a:ext cx="15544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0" y="1783080"/>
            <a:ext cx="1554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D9488"/>
                </a:solidFill>
                <a:latin typeface="Arial"/>
              </a:defRPr>
            </a:pPr>
            <a:r>
              <a:t>5. Classify</a:t>
            </a:r>
          </a:p>
          <a:p>
            <a:pPr algn="ctr">
              <a:spcBef>
                <a:spcPts val="20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Logistic Regression</a:t>
            </a:r>
            <a:br/>
            <a:r>
              <a:t>scores authenticity</a:t>
            </a:r>
            <a:br/>
            <a:r>
              <a:t>&amp; lexicon sentiment.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555480" y="3474720"/>
            <a:ext cx="274320" cy="27432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829800" y="1645920"/>
            <a:ext cx="15544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29800" y="1783080"/>
            <a:ext cx="1554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D9488"/>
                </a:solidFill>
                <a:latin typeface="Arial"/>
              </a:defRPr>
            </a:pPr>
            <a:r>
              <a:t>6. Present</a:t>
            </a:r>
          </a:p>
          <a:p>
            <a:pPr algn="ctr">
              <a:spcBef>
                <a:spcPts val="20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Visual cards show</a:t>
            </a:r>
            <a:br/>
            <a:r>
              <a:t>verdict, score,</a:t>
            </a:r>
            <a:br/>
            <a:r>
              <a:t>and review logs.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400800"/>
            <a:ext cx="108200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AuthentiX | Fake Review Detection System</a:t>
            </a:r>
          </a:p>
          <a:p>
            <a:pPr algn="r">
              <a:defRPr sz="900">
                <a:solidFill>
                  <a:srgbClr val="0D9488"/>
                </a:solidFill>
                <a:latin typeface="Arial"/>
              </a:defRPr>
            </a:pPr>
            <a:r>
              <a:t>Slide 6 of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0"/>
            <a:ext cx="18288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Arial"/>
              </a:defRPr>
            </a:pPr>
            <a:r>
              <a:t>[ INTERACTIVE DEMO / TRANSITION ]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(This slide was requested to be blank. Perfect for a project demo video, a screenshot placeholder, or Q&amp;A segment transition)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0"/>
            <a:ext cx="108200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AuthentiX | Fake Review Detection System</a:t>
            </a:r>
          </a:p>
          <a:p>
            <a:pPr algn="r">
              <a:defRPr sz="900">
                <a:solidFill>
                  <a:srgbClr val="0D9488"/>
                </a:solidFill>
                <a:latin typeface="Arial"/>
              </a:defRPr>
            </a:pPr>
            <a:r>
              <a:t>Slide 7 of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365760"/>
            <a:ext cx="108200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AUTHENTIX PROJECT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Technical Implementation Details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5120640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D9488"/>
                </a:solidFill>
                <a:latin typeface="Arial"/>
              </a:defRPr>
            </a:pPr>
            <a:r>
              <a:t>DATA PROCESSING &amp; NLP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Dataset Merge: Combines computer-generated fake review corpus (CG/OR tags) with parsed Amazon products.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Text Cleaning: Lowercasing, punctuation regex removal, NLTK stopword exclusions (fallback list implemented).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Vectorization: TF-IDF vectorizer converts text corpus into 5000 analytical numerical features.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Scraper System: BeautifulSoup for static selectors + Selenium web driver scripts to load dynamic SPA pages.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85255" y="1645920"/>
            <a:ext cx="5120640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68135" y="182880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D9488"/>
                </a:solidFill>
                <a:latin typeface="Arial"/>
              </a:defRPr>
            </a:pPr>
            <a:r>
              <a:t>CLASSIFICATION PIPELINE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Logistic Regression (Best Model): Selected for final deployment due to rapid classification and high accuracy.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Random Forest Classifier: Tested with 100 estimators; provides deep decision-tree boundary evaluation.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Multinomial Naive Bayes: Evaluated as a baseline classifier optimized for text frequency structures.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Production API: Model weights pickled and served dynamically via Flask REST endpoints.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00800"/>
            <a:ext cx="108200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AuthentiX | Fake Review Detection System</a:t>
            </a:r>
          </a:p>
          <a:p>
            <a:pPr algn="r">
              <a:defRPr sz="900">
                <a:solidFill>
                  <a:srgbClr val="0D9488"/>
                </a:solidFill>
                <a:latin typeface="Arial"/>
              </a:defRPr>
            </a:pPr>
            <a:r>
              <a:t>Slide 8 of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365760"/>
            <a:ext cx="108200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AUTHENTIX PROJECT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Practical Applications &amp; Use Cases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3291840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600" b="1">
                <a:solidFill>
                  <a:srgbClr val="0D9488"/>
                </a:solidFill>
                <a:latin typeface="Arial"/>
              </a:defRPr>
            </a:pPr>
            <a:r>
              <a:t>SHOPPING ASSISTANT</a:t>
            </a:r>
          </a:p>
          <a:p>
            <a:pPr>
              <a:defRPr sz="1400">
                <a:solidFill>
                  <a:srgbClr val="F8FAFC"/>
                </a:solidFill>
                <a:latin typeface="Arial"/>
              </a:defRPr>
            </a:pPr>
            <a:r>
              <a:t>Can be distributed as a browser extension that reads customer reviews on the fly and overlays an authenticity rating directly on Amazon or Flipkart product pages.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45920"/>
            <a:ext cx="3291840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82880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BRAND REPUTATION</a:t>
            </a:r>
          </a:p>
          <a:p>
            <a:pPr>
              <a:defRPr sz="1400">
                <a:solidFill>
                  <a:srgbClr val="F8FAFC"/>
                </a:solidFill>
                <a:latin typeface="Arial"/>
              </a:defRPr>
            </a:pPr>
            <a:r>
              <a:t>Enables corporate brands to audit product listings, trace coordinated negative feedback attacks launched by competitors, and verify authentic consumer feedback.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1645920"/>
            <a:ext cx="3291840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182880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600" b="1">
                <a:solidFill>
                  <a:srgbClr val="0D9488"/>
                </a:solidFill>
                <a:latin typeface="Arial"/>
              </a:defRPr>
            </a:pPr>
            <a:r>
              <a:t>PLATFORM INTEGRATION</a:t>
            </a:r>
          </a:p>
          <a:p>
            <a:pPr>
              <a:defRPr sz="1400">
                <a:solidFill>
                  <a:srgbClr val="F8FAFC"/>
                </a:solidFill>
                <a:latin typeface="Arial"/>
              </a:defRPr>
            </a:pPr>
            <a:r>
              <a:t>Provides e-commerce platforms with a scalable plug-and-play API to filter synthetic feedback at submission time, flag reviews for moderation, and keep databases clean.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400800"/>
            <a:ext cx="108200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AuthentiX | Fake Review Detection System</a:t>
            </a:r>
          </a:p>
          <a:p>
            <a:pPr algn="r">
              <a:defRPr sz="900">
                <a:solidFill>
                  <a:srgbClr val="0D9488"/>
                </a:solidFill>
                <a:latin typeface="Arial"/>
              </a:defRPr>
            </a:pPr>
            <a:r>
              <a:t>Slide 9 of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365760"/>
            <a:ext cx="108200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AUTHENTIX PROJECT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System Limitations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5120640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600" b="1">
                <a:solidFill>
                  <a:srgbClr val="0D9488"/>
                </a:solidFill>
                <a:latin typeface="Arial"/>
              </a:defRPr>
            </a:pPr>
            <a:r>
              <a:t>CRAWLER &amp; WEB DEPENDENCIES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E-commerce websites update their HTML class names and layout structures frequently, breaking hardcoded CSS scraper selectors.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Strict anti-scraping mechanisms (like CAPTCHA walls, Cloudflare challenge pages, and rate limits) block automated request scripts.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Scraping dynamic, single-page applications requires selenium engines which consumes heavy RAM/CPU overhead on deployment servers.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85255" y="1645920"/>
            <a:ext cx="5120640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68135" y="182880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600" b="1">
                <a:solidFill>
                  <a:srgbClr val="0D9488"/>
                </a:solidFill>
                <a:latin typeface="Arial"/>
              </a:defRPr>
            </a:pPr>
            <a:r>
              <a:t>ALGORITHMIC LIMITS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Text features are based on NLTK English structures; the system is currently blind to local or regional multilingual review manipulation.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TF-IDF vectorizer only analyses token frequencies and fails to capture deep contextual semantic relationships or advanced syntax sarcasm.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Requires active server models. If server resources are restricted and pickle files fail to load, model degrades to a rule-based mock engine.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00800"/>
            <a:ext cx="108200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AuthentiX | Fake Review Detection System</a:t>
            </a:r>
          </a:p>
          <a:p>
            <a:pPr algn="r">
              <a:defRPr sz="900">
                <a:solidFill>
                  <a:srgbClr val="0D9488"/>
                </a:solidFill>
                <a:latin typeface="Arial"/>
              </a:defRPr>
            </a:pPr>
            <a:r>
              <a:t>Slide 10 of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365760"/>
            <a:ext cx="108200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AUTHENTIX PROJECT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Future Enhancements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51206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  <a:latin typeface="Arial"/>
              </a:defRPr>
            </a:pPr>
            <a:r>
              <a:t>ADVANCED DEEP LEARNING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Replace traditional Logistic Regression with Transformer architectures like BERT or RoBERTa to capture semantic context and AI review patterns.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85255" y="1645920"/>
            <a:ext cx="51206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68135" y="18288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  <a:latin typeface="Arial"/>
              </a:defRPr>
            </a:pPr>
            <a:r>
              <a:t>ROBUST CRAWLER ROTATION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Implement residential proxy servers, rotate user agents, and coordinate cloud scraping workers to bypass marketplace CAPTCHAs reliably.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931920"/>
            <a:ext cx="51206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1148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  <a:latin typeface="Arial"/>
              </a:defRPr>
            </a:pPr>
            <a:r>
              <a:t>REAL BROWSER EXTENSION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Develop a lightweight Chrome/Firefox add-on that extracts review content from product details in real-time, displaying grades as you browse.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85255" y="3931920"/>
            <a:ext cx="51206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8135" y="41148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  <a:latin typeface="Arial"/>
              </a:defRPr>
            </a:pPr>
            <a:r>
              <a:t>MULTILINGUAL ANALYSIS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Expand the preprocessing dictionaries and vector model datasets to recognize review syntax in Spanish, Hindi, German, and Mandarin.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400800"/>
            <a:ext cx="108200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AuthentiX | Fake Review Detection System</a:t>
            </a:r>
          </a:p>
          <a:p>
            <a:pPr algn="r">
              <a:defRPr sz="900">
                <a:solidFill>
                  <a:srgbClr val="0D9488"/>
                </a:solidFill>
                <a:latin typeface="Arial"/>
              </a:defRPr>
            </a:pPr>
            <a:r>
              <a:t>Slide 11 of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828800" y="1371600"/>
            <a:ext cx="8534095" cy="4114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2011680"/>
            <a:ext cx="76196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0D9488"/>
                </a:solidFill>
                <a:latin typeface="Arial"/>
              </a:defRPr>
            </a:pPr>
            <a:r>
              <a:t>Thank You!</a:t>
            </a:r>
          </a:p>
          <a:p>
            <a:pPr algn="ctr">
              <a:spcBef>
                <a:spcPts val="1500"/>
              </a:spcBef>
              <a:defRPr sz="2000">
                <a:solidFill>
                  <a:srgbClr val="F8FAFC"/>
                </a:solidFill>
                <a:latin typeface="Arial"/>
              </a:defRPr>
            </a:pPr>
            <a:r>
              <a:t>AuthentiX — Restoring Integrity to Digital Reviews</a:t>
            </a:r>
          </a:p>
          <a:p>
            <a:pPr algn="ctr">
              <a:spcBef>
                <a:spcPts val="30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Questions &amp; Answers Session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0"/>
            <a:ext cx="108200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AuthentiX | Fake Review Detection System</a:t>
            </a:r>
          </a:p>
          <a:p>
            <a:pPr algn="r">
              <a:defRPr sz="900">
                <a:solidFill>
                  <a:srgbClr val="0D9488"/>
                </a:solidFill>
                <a:latin typeface="Arial"/>
              </a:defRPr>
            </a:pPr>
            <a:r>
              <a:t>Slide 12 of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